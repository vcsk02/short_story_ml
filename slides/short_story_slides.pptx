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big framing: foundation models moved from language into vision and multimodal AI, and now into time series. The thesis is not anti-TSFM. The thesis is that TSFMs are promising, but the word foundational needs careful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narrative. First: why the field is excited. Second: why transfer is conditional. Third: why leakage and clean evaluation are central in time-series foundation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key difference between text and time series. Language has a shared symbolic structure. Time series may be sequences, but the underlying processes can be unrelated. This is the core reason universal transfer is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 time-series foundation model in simple terms. Emphasize the pipeline: broad data, pretraining, reuse. This is the idea borrowed from language and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taxonomy. The survey helps organize the field: input representation, prediction type, univariate versus multivariate support, and training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contrast slide. The field has real promise, but recent papers suggest that claims must be made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foundationality paper does not dismiss TSFMs. It asks when zero-shot transfer is real, and whether it depends too heavily on the pretraining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circle visual to explain domain overlap. A TSFM can be excellent in familiar domains while still being fragile in new 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leakage as the major evaluation risk. The point is not that models are bad. The point is that inflated benchmark scores can weaken claims about true generalization.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from problem to solution. Better evaluation means chronology-respecting splits, pretraining-data transparency, leakage audits, and strong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reproduction as a scoped experiment. It is not trying to reproduce every paper result. It is designed to test the main lesson: clean evaluation and strong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intentionally a placeholder results slide. After the GitHub experiment is run, replace TBD values with actual metrics and add the key observation.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applied advice. TSFMs are valuable, but we should use them with careful baselines, domain matching, and evaluation transparency.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one-sentence conclusion. Re-state that the assignment is an original review grounded in the three listed papers, plus the GitHub reproduction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_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669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5C4"/>
                </a:solidFill>
              </a:rPr>
              <a:t>CMPE 258 SHORT STORY ASSIGNMENT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94360" y="10058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</a:rPr>
              <a:t>Time-Series Foundation Models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94360" y="175564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Promise, limits, and better evaluation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4360" y="523036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Are TSFMs truly foundational—or just strong when the benchmark is familiar?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94360" y="5806440"/>
            <a:ext cx="2834640" cy="292608"/>
          </a:xfrm>
          <a:prstGeom prst="roundRect">
            <a:avLst>
              <a:gd name="adj" fmla="val 2812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5875020"/>
            <a:ext cx="2615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Survey + critical review + reproduction plan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THE SHORT STORY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Three beats of the argument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The story is not just bigger models. It is promise, evidence, and evaluation hygiene.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5C4"/>
                </a:solidFill>
              </a:rPr>
              <a:t>1. Promise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377440" cy="0"/>
          </a:xfrm>
          <a:prstGeom prst="line">
            <a:avLst/>
          </a:prstGeom>
          <a:noFill/>
          <a:ln w="13970">
            <a:solidFill>
              <a:srgbClr val="27D5C4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Pretrain once, adapt across many forecasting domains.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70832" y="2514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</a:rPr>
              <a:t>2. Reality check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70832" y="2971800"/>
            <a:ext cx="2377440" cy="0"/>
          </a:xfrm>
          <a:prstGeom prst="line">
            <a:avLst/>
          </a:prstGeom>
          <a:noFill/>
          <a:ln w="13970">
            <a:solidFill>
              <a:srgbClr val="FFB347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324612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Zero-shot strength depends on pretraining-domain match.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0" y="2514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3. Evaluation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01000" y="2971800"/>
            <a:ext cx="2377440" cy="0"/>
          </a:xfrm>
          <a:prstGeom prst="line">
            <a:avLst/>
          </a:prstGeom>
          <a:noFill/>
          <a:ln w="13970">
            <a:solidFill>
              <a:srgbClr val="FF6B6B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324612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Leakage can make benchmarks look cleaner than they are.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52578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Takeaway: TSFMs are promising, not proven universal.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omain_sid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539496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WHY TIME SERIES IS HARDER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94360" y="777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</a:rPr>
              <a:t>Time series is not one world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1645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4445A"/>
                </a:solidFill>
              </a:rPr>
              <a:t>A stock chart, ECG trace, weather series, and sensor stream are all sequences—but they come from different systems.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3232" y="28072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0B8FF"/>
                </a:solidFill>
              </a:rPr>
              <a:t>•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9264" y="27889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</a:rPr>
              <a:t>Different scales and units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3232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5C4"/>
                </a:solidFill>
              </a:rPr>
              <a:t>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9264" y="32918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</a:rPr>
              <a:t>Different noise and seasonality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13232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47"/>
                </a:solidFill>
              </a:rPr>
              <a:t>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9264" y="379476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</a:rPr>
              <a:t>Different causal mechanisms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3232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</a:rPr>
              <a:t>•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9264" y="429768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</a:rPr>
              <a:t>Different leakage risks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4360" y="5349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That makes “one model for everything” much harder than it sounds.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5C4"/>
                </a:solidFill>
              </a:rPr>
              <a:t>DEFINITION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What is a TSFM?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pretrained sequence model intended to transfer across forecasting tasks, datasets, and domains.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18488" y="2221992"/>
            <a:ext cx="502920" cy="502920"/>
          </a:xfrm>
          <a:prstGeom prst="ellipse">
            <a:avLst/>
          </a:prstGeom>
          <a:solidFill>
            <a:srgbClr val="27D5C4"/>
          </a:solidFill>
          <a:ln w="12700">
            <a:solidFill>
              <a:srgbClr val="27D5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64792" y="23500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01D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Large temporal corpus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346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many domains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2478024"/>
            <a:ext cx="731520" cy="0"/>
          </a:xfrm>
          <a:prstGeom prst="line">
            <a:avLst/>
          </a:prstGeom>
          <a:noFill/>
          <a:ln w="17780">
            <a:solidFill>
              <a:srgbClr val="48627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78808" y="222199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3500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01D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Pretraining objective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3346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masking, next-step, likelihood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0" y="2478024"/>
            <a:ext cx="731520" cy="0"/>
          </a:xfrm>
          <a:prstGeom prst="line">
            <a:avLst/>
          </a:prstGeom>
          <a:noFill/>
          <a:ln w="17780">
            <a:solidFill>
              <a:srgbClr val="48627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39128" y="2221992"/>
            <a:ext cx="502920" cy="502920"/>
          </a:xfrm>
          <a:prstGeom prst="ellipse">
            <a:avLst/>
          </a:prstGeom>
          <a:solidFill>
            <a:srgbClr val="40B8FF"/>
          </a:solidFill>
          <a:ln w="12700">
            <a:solidFill>
              <a:srgbClr val="40B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23500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01D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Foundation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97880" y="3346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shared representation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2478024"/>
            <a:ext cx="731520" cy="0"/>
          </a:xfrm>
          <a:prstGeom prst="line">
            <a:avLst/>
          </a:prstGeom>
          <a:noFill/>
          <a:ln w="17780">
            <a:solidFill>
              <a:srgbClr val="48627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99448" y="2221992"/>
            <a:ext cx="502920" cy="502920"/>
          </a:xfrm>
          <a:prstGeom prst="ellipse">
            <a:avLst/>
          </a:prstGeom>
          <a:solidFill>
            <a:srgbClr val="78D98F"/>
          </a:solidFill>
          <a:ln w="12700">
            <a:solidFill>
              <a:srgbClr val="78D9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3500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01D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Forecast / adapt / fine-tune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3346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zero/few-shot or tuned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57400" y="5029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The claim: temporal patterns learned at scale can become reusable.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SURVEY PAPER: ARXIV:2504.04011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</a:rPr>
              <a:t>Survey taxonomy: how TSFMs differ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Input representation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874520"/>
            <a:ext cx="5212080" cy="0"/>
          </a:xfrm>
          <a:prstGeom prst="line">
            <a:avLst/>
          </a:prstGeom>
          <a:noFill/>
          <a:ln w="38100">
            <a:solidFill>
              <a:srgbClr val="40B8FF">
                <a:alpha val="9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raw sequence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29400" y="2066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patch / tokenized segments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40680" y="1764792"/>
            <a:ext cx="228600" cy="228600"/>
          </a:xfrm>
          <a:prstGeom prst="ellipse">
            <a:avLst/>
          </a:prstGeom>
          <a:solidFill>
            <a:srgbClr val="40B8FF"/>
          </a:solidFill>
          <a:ln w="12700">
            <a:solidFill>
              <a:srgbClr val="40B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Prediction style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2926080"/>
            <a:ext cx="5212080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118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deterministic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31181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probabilistic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16352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Data handling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3977640"/>
            <a:ext cx="5212080" cy="0"/>
          </a:xfrm>
          <a:prstGeom prst="line">
            <a:avLst/>
          </a:prstGeom>
          <a:noFill/>
          <a:ln w="38100">
            <a:solidFill>
              <a:srgbClr val="78D98F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4169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univariate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4169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multivariate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3867912"/>
            <a:ext cx="228600" cy="228600"/>
          </a:xfrm>
          <a:prstGeom prst="ellipse">
            <a:avLst/>
          </a:prstGeom>
          <a:solidFill>
            <a:srgbClr val="78D98F"/>
          </a:solidFill>
          <a:ln w="12700">
            <a:solidFill>
              <a:srgbClr val="78D9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Training objective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46120" y="5029200"/>
            <a:ext cx="5212080" cy="0"/>
          </a:xfrm>
          <a:prstGeom prst="line">
            <a:avLst/>
          </a:prstGeom>
          <a:noFill/>
          <a:ln w="38100">
            <a:solidFill>
              <a:srgbClr val="FFB347">
                <a:alpha val="9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5221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forecasting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52212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75"/>
                </a:solidFill>
              </a:rPr>
              <a:t>masked / likelihood / contrastive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4919472"/>
            <a:ext cx="228600" cy="2286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98932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</a:rPr>
              <a:t>The field is already diverse. “TSFM” is a category, not a single architecture.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52360" y="6355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6AA"/>
                </a:solidFill>
              </a:rPr>
              <a:t>Primary source: Foundation Models for Time Series: A Survey, arXiv:2504.04011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</a:rPr>
              <a:t>HYPE VS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The promise is real—but conditional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The recent papers turn the story from “one model forecasts all” into a more careful question.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D5C4"/>
                </a:solidFill>
              </a:rPr>
              <a:t>What people hope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76656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47"/>
                </a:solidFill>
              </a:rPr>
              <a:t>What the papers suggest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Zero-shot transfer everywhere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7784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66560" y="2971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Transfer depends on domain match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5753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Large scale always wins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77840" y="35295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35753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Smaller tuned models can compete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178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Benchmarks prove generalization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77840" y="4133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41788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Leakage can inflate benchmark scores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7823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Pretrain once, reuse anywhere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77840" y="47365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47823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Reusability needs clean evidence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Thesis: the word “foundational” is an aspiration, not yet a settled fact.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</a:rPr>
              <a:t>CRITICAL PAPER: ARXIV:2510.00742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</a:rPr>
              <a:t>Reality check: domain alignment drives transfer</a:t>
            </a:r>
            <a:endParaRPr lang="en-US" sz="3100" dirty="0"/>
          </a:p>
        </p:txBody>
      </p:sp>
      <p:pic>
        <p:nvPicPr>
          <p:cNvPr id="4" name="Image 0" descr="/mnt/data/domain_wid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72768"/>
            <a:ext cx="443484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385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B347"/>
                </a:solidFill>
              </a:rPr>
              <a:t>•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3272" y="1920240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4213D"/>
                </a:solidFill>
              </a:rPr>
              <a:t>Zero-shot strength is tied to pretraining domains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77240" y="25054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B5CF6"/>
                </a:solidFill>
              </a:rPr>
              <a:t>•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3272" y="2487168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4213D"/>
                </a:solidFill>
              </a:rPr>
              <a:t>Unseen domains can weaken the “foundation” claim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77240" y="30723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0B8FF"/>
                </a:solidFill>
              </a:rPr>
              <a:t>•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3272" y="3054096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4213D"/>
                </a:solidFill>
              </a:rPr>
              <a:t>Model size and memory cost matter in deployment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77240" y="363931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8D98F"/>
                </a:solidFill>
              </a:rPr>
              <a:t>•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3272" y="3621024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4213D"/>
                </a:solidFill>
              </a:rPr>
              <a:t>Smaller specialized models can remain competitive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77240" y="53035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Question to ask: Did the model generalize—or was the target domain familiar?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52360" y="6355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6AA"/>
                </a:solidFill>
              </a:rPr>
              <a:t>Source: How Foundational are Foundation Models for Time Series Forecasting?, arXiv:2510.00742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5C4"/>
                </a:solidFill>
              </a:rPr>
              <a:t>MENTAL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Transfer depends on overlap between worlds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The practical value of TSFMs rises when the downstream domain resembles pretraining—and falls when it does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43000" y="2514600"/>
            <a:ext cx="2743200" cy="2103120"/>
          </a:xfrm>
          <a:prstGeom prst="ellipse">
            <a:avLst/>
          </a:prstGeom>
          <a:solidFill>
            <a:srgbClr val="113A55">
              <a:alpha val="92000"/>
            </a:srgbClr>
          </a:solidFill>
          <a:ln w="25400">
            <a:solidFill>
              <a:srgbClr val="40B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31272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Pretraining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world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434840" y="2651760"/>
            <a:ext cx="2560320" cy="1920240"/>
          </a:xfrm>
          <a:prstGeom prst="ellipse">
            <a:avLst/>
          </a:prstGeom>
          <a:solidFill>
            <a:srgbClr val="3A234F">
              <a:alpha val="9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3182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Familiar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targets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41080" y="2651760"/>
            <a:ext cx="2377440" cy="1874520"/>
          </a:xfrm>
          <a:prstGeom prst="ellipse">
            <a:avLst/>
          </a:prstGeom>
          <a:solidFill>
            <a:srgbClr val="462929">
              <a:alpha val="88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70848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New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domain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178040" y="3584448"/>
            <a:ext cx="123444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higher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5532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The farther the downstream task is from pretraining, the weaker the transfer claim becomes.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ak_dark_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EVALUATION PAPER: ARXIV:2510.13654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94360" y="7772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Leakage can fake generalization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Two leakage modes highlighted in the paper: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22585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•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33272" y="224028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Train-test sample overlap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91693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47"/>
                </a:solidFill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3272" y="289864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Temporal overlap of correlated series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519379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 time series, the model does not need to see the exact same row to benefit from future-adjacent or correlated information.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52360" y="6355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6AA"/>
                </a:solidFill>
              </a:rPr>
              <a:t>Source: Rethinking Evaluation in the Era of Time Series Foundation Models, arXiv:2510.13654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ipeline_sid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188720"/>
            <a:ext cx="5989320" cy="44897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CLEAN EVALUATION PROTOCOL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94360" y="777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</a:rPr>
              <a:t>What better evaluation looks like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77240" y="19385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0B8FF"/>
                </a:solidFill>
              </a:rPr>
              <a:t>•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33272" y="1920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4213D"/>
                </a:solidFill>
              </a:rPr>
              <a:t>Respect chronology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77240" y="24414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B5CF6"/>
                </a:solidFill>
              </a:rPr>
              <a:t>•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33272" y="242316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4213D"/>
                </a:solidFill>
              </a:rPr>
              <a:t>Separate pretraining and benchmark data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77240" y="29443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B347"/>
                </a:solidFill>
              </a:rPr>
              <a:t>•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33272" y="292608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4213D"/>
                </a:solidFill>
              </a:rPr>
              <a:t>Audit correlated overlap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77240" y="34472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8D98F"/>
                </a:solidFill>
              </a:rPr>
              <a:t>•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33272" y="342900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4213D"/>
                </a:solidFill>
              </a:rPr>
              <a:t>Compare against strong smaller baselines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77240" y="39502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6B6B"/>
                </a:solidFill>
              </a:rPr>
              <a:t>•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33272" y="393192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4213D"/>
                </a:solidFill>
              </a:rPr>
              <a:t>Report compute and memory tradeoffs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77240" y="51206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8B5CF6"/>
                </a:solidFill>
              </a:rPr>
              <a:t>Benchmark design is part of the scientific claim.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5C4"/>
                </a:solidFill>
              </a:rPr>
              <a:t>GITHUB REPRODUCTION PLAN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AutoResearch-style experiment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small reproduction focuses on the paper’s core message: do gains survive clean evaluation?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D5C4"/>
                </a:solidFill>
              </a:rPr>
              <a:t>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35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ETT / Weather / Electricity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2487168" y="2788920"/>
            <a:ext cx="38404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1752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Split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80360" y="3035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strict temporal validation + test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727448" y="2788920"/>
            <a:ext cx="38404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25780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0B8FF"/>
                </a:solidFill>
              </a:rPr>
              <a:t>Models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3035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naive + classical + TSFM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967728" y="2788920"/>
            <a:ext cx="38404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9808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Metrics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60920" y="3035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MAE, RMSE, MAPE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208008" y="2788920"/>
            <a:ext cx="38404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73836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D98F"/>
                </a:solidFill>
              </a:rPr>
              <a:t>Audit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3035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leakage notes + limits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What to report in the repo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52760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5C4"/>
                </a:solidFill>
              </a:rPr>
              <a:t>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4712" y="52578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configuration + runs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66013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4712" y="564184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metric tables and plots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60441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4712" y="6025896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split details and leakage checks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RESULTS SLIDE TEMPLATE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</a:rPr>
              <a:t>Fill this after running your experiments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468880" cy="530352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54680" y="1691640"/>
            <a:ext cx="1325880" cy="530352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691640"/>
            <a:ext cx="1325880" cy="530352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RMSE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06440" y="1691640"/>
            <a:ext cx="1325880" cy="530352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691640"/>
            <a:ext cx="3108960" cy="530352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Observation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21992"/>
            <a:ext cx="2468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Naive / seasonal naive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54680" y="2221992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2221992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2221992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2221992"/>
            <a:ext cx="31089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752344"/>
            <a:ext cx="2468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Classical baseline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4680" y="2752344"/>
            <a:ext cx="1325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752344"/>
            <a:ext cx="1325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752344"/>
            <a:ext cx="1325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752344"/>
            <a:ext cx="310896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282696"/>
            <a:ext cx="2468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Small neural 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54680" y="3282696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282696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3282696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282696"/>
            <a:ext cx="31089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813048"/>
            <a:ext cx="2468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TSFM zero-shot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3813048"/>
            <a:ext cx="1325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3813048"/>
            <a:ext cx="1325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3813048"/>
            <a:ext cx="132588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813048"/>
            <a:ext cx="3108960" cy="530352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2468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TSFM fine-tuned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54680" y="4343400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4343400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4343400"/>
            <a:ext cx="13258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343400"/>
            <a:ext cx="31089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9"/>
                </a:solidFill>
              </a:rPr>
              <a:t>TBD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5285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</a:rPr>
              <a:t>Interpretation prompts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85800" y="56509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</a:rPr>
              <a:t>Did TSFM gains survive strict temporal splitting? Did a smaller baseline compete? Were results domain-dependent?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D98F"/>
                </a:solidFill>
              </a:rPr>
              <a:t>PRACTICAL TAKEAWAYS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How to use TSFMs responsibly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The safest interpretation is not “ignore TSFMs.” It is “evaluate them like the benchmark can lie.”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D5C4"/>
                </a:solidFill>
              </a:rPr>
              <a:t>Trust, but audit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2953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Check pretraining data and possible overlap.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5CF6"/>
                </a:solidFill>
              </a:rPr>
              <a:t>Match the domain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263640" y="2953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Transfer is strongest when worlds are similar.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47"/>
                </a:solidFill>
              </a:rPr>
              <a:t>Use strong baselines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Small tuned models are not automatic strawmen.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3840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8D98F"/>
                </a:solidFill>
              </a:rPr>
              <a:t>Report tradeoffs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26364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Accuracy needs context: compute, memory, robustness.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The best TSFM result is not the highest number—it is the highest number that survives honest evaluation.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5C4"/>
                </a:solidFill>
              </a:rPr>
              <a:t>BOTTOM 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TSFMs are promising, not proven universal.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Their real value depends on domain alignment, clean evaluation, and whether gains justify model cost.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D5C4"/>
                </a:solidFill>
              </a:rPr>
              <a:t>Main references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4930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Foundation Models for Time Series: A Survey — arXiv:2504.04011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9959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How Foundational are Foundation Models for Time Series Forecasting? — arXiv:2510.00742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4988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Rethinking Evaluation in the Era of Time Series Foundation Models — arXiv:2510.13654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</a:rPr>
              <a:t>CMPE 258 Short Story |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CMPE 258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Time-Series Foundation Models: Promise, Limits, and Better Evaluation</dc:title>
  <dc:subject>Time-Series Foundation Models</dc:subject>
  <dc:creator>CMPE 258 Short Story</dc:creator>
  <cp:lastModifiedBy>CMPE 258 Short Story</cp:lastModifiedBy>
  <cp:revision>1</cp:revision>
  <dcterms:created xsi:type="dcterms:W3CDTF">2026-04-30T01:50:27Z</dcterms:created>
  <dcterms:modified xsi:type="dcterms:W3CDTF">2026-04-30T01:50:27Z</dcterms:modified>
</cp:coreProperties>
</file>